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6" r:id="rId5"/>
    <p:sldId id="259" r:id="rId6"/>
    <p:sldId id="260" r:id="rId7"/>
    <p:sldId id="267" r:id="rId8"/>
    <p:sldId id="261" r:id="rId9"/>
    <p:sldId id="262" r:id="rId10"/>
    <p:sldId id="263" r:id="rId11"/>
    <p:sldId id="264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113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5893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Παρουσιάστε τίτλο, αντικείμενο εργασίας και τα δύο μοντέλα που συγκρίνουμε. Αναφέρετε dataset και περιβάλλον. (30 δευτερόλεπτα)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Εξηγήστε το πρόβλημα: θέλουμε να παράγουμε anime πρόσωπα αυτόματα. Δύο προσεγγίσεις — VAE και DCGAN. Αξιολόγηση με FID. (45 δευτερόλεπτα)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Dataset: Anime Face Dataset από Kaggle. Χρησιμοποιήσαμε 20.000 από 63.565 εικόνες λόγω υπολογιστικών περιορισμών. Η EDA έδειξε ομοιόμορφη κατανομή χρωμάτων. (40 δευτερόλεπτα)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413B6-BD18-065D-6091-102107314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012A2A-79E0-A76D-FACF-54D30F7EB2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B4757C-A551-8F69-D393-ADB6B64651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Εξηγήστε το πρόβλημα: θέλουμε να παράγουμε anime πρόσωπα αυτόματα. Δύο προσεγγίσεις — VAE και DCGAN. Αξιολόγηση με FID. (45 δευτερόλεπτα)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28C9CC-8B84-DE20-6597-8C8690F05C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5183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Περιγράψτε σύντομα τις δύο αρχιτεκτονικές. VAE: encoder-decoder με latent space. DCGAN: adversarial — Generator vs Discriminator. Τονίστε τις σταθεροποιήσεις του DCGAN. (60 δευτερόλεπτα)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VAE: σταθερή σύγκλιση, χωρίς overfitting. KL collapse στην epoch 1 (φυσιολογικό). DCGAN: Generator loss πέφτει αλλά D(G(z)) παραμένει χαμηλό — ο Discriminator κυριαρχεί. (60 δευτερόλεπτα)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ACCD0-D416-936A-FE45-4EC7E3A80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B7B811-1506-6EB0-7915-357CE48C27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4E1F9A-6C56-E4E9-3DC4-A7BF056346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VAE: σταθερή σύγκλιση, χωρίς overfitting. KL collapse στην epoch 1 (φυσιολογικό). DCGAN: Generator loss πέφτει αλλά D(G(z)) παραμένει χαμηλό — ο Discriminator κυριαρχεί. (60 δευτερόλεπτα)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31CB52-DD1F-CD89-2DB4-05A59A24B5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1447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Κύριο αποτέλεσμα: DCGAN FID=116.16 vs VAE FID=244.72 — 52.5% βελτίωση. Παρά λιγότερες παραμέτρους (6.34M vs 11.8M), το DCGAN κερδίζει χάρη στο adversarial training. (50 δευτερόλεπτα)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VAE: θολές εικόνες αλλά ελεγχόμενο latent space — μπορούμε να κάνουμε interpolation. DCGAN: πολύ καλύτερη εικόνα οπτικά. Τα δύο μοντέλα έχουν συμπληρωματικά πλεονεκτήματα. (50 δευτερόλεπτα)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Εξηγήστε γιατί το DCGAN κερδίζει: adversarial loss vs MSE. Αναφέρετε τα limitations — KL collapse, G/D imbalance, περιορισμένα δεδομένα. Δείξτε αυτοκριτική γνώση. (60 δευτερόλεπτα)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Κύριο συμπέρασμα: DCGAN νικά 52.5% στο FID με λιγότερες παραμέτρους. VAE πλεονεκτεί στο latent space. Και τα δύο FID (116-244) μακριά από state-of-the-art (&lt;5) — λόγω περιορισμένου Colab. (45 δευτερόλεπτα)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Κλείσιμο. Ετοιμαστείτε για ερωτήσεις: FID τι μετρά, γιατί MSE → blur, τι είναι KL divergence, πώς λειτουργεί το adversarial training, γιατί χρησιμοποιήσαμε β=1.5.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3840480" cy="384048"/>
          </a:xfrm>
          <a:prstGeom prst="roundRect">
            <a:avLst>
              <a:gd name="adj" fmla="val 11905"/>
            </a:avLst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8CAE4"/>
                </a:solidFill>
              </a:rPr>
              <a:t>ΠΜΣ Εφαρμοσμένα Μαθηματικά &amp; Μηχανική Μάθηση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Παραγωγή </a:t>
            </a:r>
            <a:r>
              <a:rPr lang="en-US" sz="2800" dirty="0" err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Προσώ</a:t>
            </a:r>
            <a:r>
              <a:rPr lang="en-US" sz="2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πων Anime</a:t>
            </a:r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 Generative AI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4572000" cy="320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4160520" y="2514600"/>
            <a:ext cx="822960" cy="82296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160520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VS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3566160" cy="658368"/>
          </a:xfrm>
          <a:prstGeom prst="roundRect">
            <a:avLst>
              <a:gd name="adj" fmla="val 13889"/>
            </a:avLst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57200" y="260604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Variational Autoencoder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120640" y="2606040"/>
            <a:ext cx="3566160" cy="658368"/>
          </a:xfrm>
          <a:prstGeom prst="roundRect">
            <a:avLst>
              <a:gd name="adj" fmla="val 13889"/>
            </a:avLst>
          </a:prstGeom>
          <a:solidFill>
            <a:srgbClr val="1A3A4A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120640" y="260604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DCGAN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Convolutional GAN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Anime Face Dataset — 63.565 εικόνες    </a:t>
            </a: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2.1    </a:t>
            </a: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GPU: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(Google Colab)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Χαρίλαος Τουτουντζάκης  |  Πανεπιστήμιο Θεσσαλίας  |  202</a:t>
            </a:r>
            <a:r>
              <a:rPr lang="el-GR" sz="1100" dirty="0">
                <a:solidFill>
                  <a:srgbClr val="94A3B8"/>
                </a:solidFill>
              </a:rPr>
              <a:t>5</a:t>
            </a:r>
            <a:r>
              <a:rPr lang="en-US" sz="1100" dirty="0">
                <a:solidFill>
                  <a:srgbClr val="94A3B8"/>
                </a:solidFill>
              </a:rPr>
              <a:t>–202</a:t>
            </a:r>
            <a:r>
              <a:rPr lang="el-GR" sz="1100" dirty="0">
                <a:solidFill>
                  <a:srgbClr val="94A3B8"/>
                </a:solidFill>
              </a:rPr>
              <a:t>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Εισαγωγή &amp; Κίνητρο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0B4D8"/>
                </a:solidFill>
              </a:rPr>
              <a:t>01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Πρόβλημα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Αυτόματη παραγωγή </a:t>
            </a: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συνθετικών εικόνων anime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64×64 px από μηδενική βάση, σε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περιβάλλον περιορισμένων πόρων.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82296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937760" y="8686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Γιατί έχει σημασία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1887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= κορυφαίος κλάδος DL.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Εφαρμογές: gaming, animation,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augmentation.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2423160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Στόχοι Εργασίας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0040" y="2816352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E8F4F8"/>
          </a:solidFill>
          <a:ln w="1016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411480" y="2907792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114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86968" y="285292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Εκπαίδευση VAE &amp; DCGAN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968" y="3090672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από μηδέν, στο ίδιο dataset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27448" y="2816352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E8F4F8"/>
          </a:solidFill>
          <a:ln w="1016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4818888" y="2907792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818888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94376" y="285292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Ποιοτική σύγκριση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94376" y="3090672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οπτικά δείγματα, sharpness, diversity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474720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E8F4F8"/>
          </a:solidFill>
          <a:ln w="1016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11480" y="356616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1148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86968" y="351129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Ποσοτική αξιολόγηση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86968" y="374904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 μετρική FID (Fréchet Inception Distance)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27448" y="3474720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E8F4F8"/>
          </a:solidFill>
          <a:ln w="1016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4818888" y="356616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4818888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94376" y="351129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Ανάλυση latent space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94376" y="374904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παρεμβολές, δομή αναπαράστασης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Προεπεξεργασία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0B4D8"/>
                </a:solidFill>
              </a:rPr>
              <a:t>02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1965960" cy="1115568"/>
          </a:xfrm>
          <a:prstGeom prst="roundRect">
            <a:avLst>
              <a:gd name="adj" fmla="val 8197"/>
            </a:avLst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20040" y="84124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63.565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35331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Εικόνες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(Kaggle)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804672"/>
            <a:ext cx="1965960" cy="1115568"/>
          </a:xfrm>
          <a:prstGeom prst="roundRect">
            <a:avLst>
              <a:gd name="adj" fmla="val 8197"/>
            </a:avLst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423160" y="84124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20.000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23160" y="135331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Χρησιμοποιήθηκαν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(18K train / 2K val)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26280" y="804672"/>
            <a:ext cx="1965960" cy="1115568"/>
          </a:xfrm>
          <a:prstGeom prst="roundRect">
            <a:avLst>
              <a:gd name="adj" fmla="val 8197"/>
            </a:avLst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526280" y="84124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64×64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26280" y="135331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Ανάλυση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(μετά resize)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29400" y="804672"/>
            <a:ext cx="1965960" cy="1115568"/>
          </a:xfrm>
          <a:prstGeom prst="roundRect">
            <a:avLst>
              <a:gd name="adj" fmla="val 8197"/>
            </a:avLst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20040" y="208483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Προεπεξεργασίας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0040" y="2487168"/>
            <a:ext cx="1572768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923544" y="2560320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923544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0040" y="2962656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Φόρτωση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" y="3191256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ImageFolder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(Kaggle)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020824" y="2487168"/>
            <a:ext cx="1572768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2624328" y="2560320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2624328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020824" y="2962656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CenterCrop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020824" y="3191256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64×64 px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721608" y="2487168"/>
            <a:ext cx="1572768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4325112" y="2560320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4325112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721608" y="2962656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21608" y="3191256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[-1, 1]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22392" y="2487168"/>
            <a:ext cx="1572768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6025896" y="2560320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6025896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22392" y="2962656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DataLoader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22392" y="3191256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batch=128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pin_memory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123176" y="2487168"/>
            <a:ext cx="1572768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7726680" y="2560320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772668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23176" y="2962656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123176" y="3191256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seed=42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(torch+numpy)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20040" y="3858768"/>
            <a:ext cx="8503920" cy="713232"/>
          </a:xfrm>
          <a:prstGeom prst="roundRect">
            <a:avLst>
              <a:gd name="adj" fmla="val 12821"/>
            </a:avLst>
          </a:prstGeom>
          <a:solidFill>
            <a:srgbClr val="E0F4FB"/>
          </a:solidFill>
          <a:ln w="1016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502920" y="3931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Ευρήματα: 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02920" y="42245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Μέση ανάλυση 88×88 px (εύρος 28–180 px)  •  Μέσες τιμές RGB: 0.694 / 0.593 / 0.572  •  Κανονικές κατανομές χρωμάτων ανά κανάλι — ομοιόμορφο dataset χωρίς σημαντικό bias</a:t>
            </a:r>
            <a:endParaRPr lang="en-US" sz="110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E3E9A6AE-7526-0378-696C-1A7064CBCD4A}"/>
              </a:ext>
            </a:extLst>
          </p:cNvPr>
          <p:cNvSpPr/>
          <p:nvPr/>
        </p:nvSpPr>
        <p:spPr>
          <a:xfrm>
            <a:off x="6839712" y="1412989"/>
            <a:ext cx="1545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/Val split</a:t>
            </a:r>
          </a:p>
        </p:txBody>
      </p:sp>
      <p:sp>
        <p:nvSpPr>
          <p:cNvPr id="47" name="Text 21">
            <a:extLst>
              <a:ext uri="{FF2B5EF4-FFF2-40B4-BE49-F238E27FC236}">
                <a16:creationId xmlns:a16="http://schemas.microsoft.com/office/drawing/2014/main" id="{3C36F5DD-A12C-53B0-1626-F09ECCE15643}"/>
              </a:ext>
            </a:extLst>
          </p:cNvPr>
          <p:cNvSpPr/>
          <p:nvPr/>
        </p:nvSpPr>
        <p:spPr>
          <a:xfrm>
            <a:off x="6839712" y="952420"/>
            <a:ext cx="15453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18k / 2k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8BE9CE-255D-B84C-CFAA-B1C7B0570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541AEA5-B549-FEAA-25BE-282F2E396DAB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4CCE032-030C-3F6B-CF55-DB35AF7ED1E2}"/>
              </a:ext>
            </a:extLst>
          </p:cNvPr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Προε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πεξεργασία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D79C828-95FB-E4AA-CB92-1E91F9828B3A}"/>
              </a:ext>
            </a:extLst>
          </p:cNvPr>
          <p:cNvSpPr/>
          <p:nvPr/>
        </p:nvSpPr>
        <p:spPr>
          <a:xfrm>
            <a:off x="8046720" y="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0B4D8"/>
                </a:solidFill>
              </a:rPr>
              <a:t>0</a:t>
            </a:r>
            <a:r>
              <a:rPr lang="en-GB" sz="2200" b="1" dirty="0">
                <a:solidFill>
                  <a:srgbClr val="00B4D8"/>
                </a:solidFill>
              </a:rPr>
              <a:t>3</a:t>
            </a:r>
            <a:endParaRPr lang="en-US" sz="2200" dirty="0"/>
          </a:p>
        </p:txBody>
      </p:sp>
      <p:pic>
        <p:nvPicPr>
          <p:cNvPr id="32" name="Image 0" descr="preencoded.png">
            <a:extLst>
              <a:ext uri="{FF2B5EF4-FFF2-40B4-BE49-F238E27FC236}">
                <a16:creationId xmlns:a16="http://schemas.microsoft.com/office/drawing/2014/main" id="{3A3BE384-5E70-E4B6-AE07-13597C88D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575054"/>
            <a:ext cx="5303520" cy="2667493"/>
          </a:xfrm>
          <a:prstGeom prst="rect">
            <a:avLst/>
          </a:prstGeom>
        </p:spPr>
      </p:pic>
      <p:sp>
        <p:nvSpPr>
          <p:cNvPr id="34" name="Text 23">
            <a:extLst>
              <a:ext uri="{FF2B5EF4-FFF2-40B4-BE49-F238E27FC236}">
                <a16:creationId xmlns:a16="http://schemas.microsoft.com/office/drawing/2014/main" id="{E31A8FE5-1E61-CFED-C1D2-FCF99F88E425}"/>
              </a:ext>
            </a:extLst>
          </p:cNvPr>
          <p:cNvSpPr/>
          <p:nvPr/>
        </p:nvSpPr>
        <p:spPr>
          <a:xfrm>
            <a:off x="182880" y="4552947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Δείγμα εικόνων — Anime Face Dataset</a:t>
            </a:r>
            <a:endParaRPr lang="en-US" sz="900" dirty="0"/>
          </a:p>
        </p:txBody>
      </p:sp>
      <p:pic>
        <p:nvPicPr>
          <p:cNvPr id="35" name="Image 1" descr="preencoded.png">
            <a:extLst>
              <a:ext uri="{FF2B5EF4-FFF2-40B4-BE49-F238E27FC236}">
                <a16:creationId xmlns:a16="http://schemas.microsoft.com/office/drawing/2014/main" id="{89595618-A0D5-183C-F83E-616A0C95D6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1575054"/>
            <a:ext cx="3429000" cy="1143000"/>
          </a:xfrm>
          <a:prstGeom prst="rect">
            <a:avLst/>
          </a:prstGeom>
        </p:spPr>
      </p:pic>
      <p:sp>
        <p:nvSpPr>
          <p:cNvPr id="36" name="Text 24">
            <a:extLst>
              <a:ext uri="{FF2B5EF4-FFF2-40B4-BE49-F238E27FC236}">
                <a16:creationId xmlns:a16="http://schemas.microsoft.com/office/drawing/2014/main" id="{5DDF405B-0C54-F188-8E50-9C51DA351026}"/>
              </a:ext>
            </a:extLst>
          </p:cNvPr>
          <p:cNvSpPr/>
          <p:nvPr/>
        </p:nvSpPr>
        <p:spPr>
          <a:xfrm>
            <a:off x="5577840" y="2895279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Κατανομή τιμών pixel ανά κανάλι RGB</a:t>
            </a:r>
            <a:endParaRPr lang="en-US" sz="900" dirty="0"/>
          </a:p>
        </p:txBody>
      </p:sp>
      <p:pic>
        <p:nvPicPr>
          <p:cNvPr id="37" name="Image 2" descr="preencoded.png">
            <a:extLst>
              <a:ext uri="{FF2B5EF4-FFF2-40B4-BE49-F238E27FC236}">
                <a16:creationId xmlns:a16="http://schemas.microsoft.com/office/drawing/2014/main" id="{B0E88E43-D8B9-8B5D-4E83-832DF7DCF7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3162139"/>
            <a:ext cx="3429000" cy="1783080"/>
          </a:xfrm>
          <a:prstGeom prst="rect">
            <a:avLst/>
          </a:prstGeom>
        </p:spPr>
      </p:pic>
      <p:sp>
        <p:nvSpPr>
          <p:cNvPr id="38" name="Text 25">
            <a:extLst>
              <a:ext uri="{FF2B5EF4-FFF2-40B4-BE49-F238E27FC236}">
                <a16:creationId xmlns:a16="http://schemas.microsoft.com/office/drawing/2014/main" id="{ED2CBE7C-68B8-05E8-DE3D-E2A613242422}"/>
              </a:ext>
            </a:extLst>
          </p:cNvPr>
          <p:cNvSpPr/>
          <p:nvPr/>
        </p:nvSpPr>
        <p:spPr>
          <a:xfrm>
            <a:off x="5577840" y="5010912"/>
            <a:ext cx="34290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Μέση εικόνα dataset &amp; τυχαίο δείγμα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472473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Αρχιτεκτονικές Μοντέλων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0B4D8"/>
                </a:solidFill>
              </a:rPr>
              <a:t>04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14800" cy="41605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0077B6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14800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  —  11.8M παράμετροι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344168"/>
            <a:ext cx="9601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389888" y="1344168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Conv2d: 3→64→128→256→512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stride=2, LeakyReLU + BatchNorm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1892808"/>
            <a:ext cx="9601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89888" y="1892808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dim=256 → μ, σ → reparameterize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441448"/>
            <a:ext cx="9601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389888" y="2441448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ConvTranspose2d: 512→256→128→64→3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+ BatchNorm, Tanh output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2990088"/>
            <a:ext cx="9601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89888" y="2990088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β-VAE: Recon(MSE) + β×KLD  (β=1.5)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3538728"/>
            <a:ext cx="9601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389888" y="3538728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LR=1e-3 + ReduceLROnPlateau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4087368"/>
            <a:ext cx="9601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389888" y="4087368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777240"/>
            <a:ext cx="4114800" cy="41605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FF6B6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754880" y="777240"/>
            <a:ext cx="4114800" cy="457200"/>
          </a:xfrm>
          <a:prstGeom prst="rect">
            <a:avLst/>
          </a:prstGeom>
          <a:solidFill>
            <a:srgbClr val="B03030"/>
          </a:solidFill>
          <a:ln w="12700">
            <a:solidFill>
              <a:srgbClr val="B030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800600" y="777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DCGAN  —  6.34M παράμετροι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1344168"/>
            <a:ext cx="111556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B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025896" y="1344168"/>
            <a:ext cx="26974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NZ=100→512→256→128→64→3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ConvTranspose2d + BN + ReLU, Tanh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92040" y="1892808"/>
            <a:ext cx="111556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B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Discriminator: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025896" y="1892808"/>
            <a:ext cx="26974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3→64→128→256→512→1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+ BN + LeakyReLU, Sigmoid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92040" y="2441448"/>
            <a:ext cx="111556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B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Stability: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025896" y="2441448"/>
            <a:ext cx="26974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smoothing (real=0.9, fake=0.0)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noise σ=0.05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92040" y="2990088"/>
            <a:ext cx="111556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B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Weights: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025896" y="2990088"/>
            <a:ext cx="26974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Αρχικοποίηση N(0, 0.02)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92040" y="3538728"/>
            <a:ext cx="111556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B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025896" y="3538728"/>
            <a:ext cx="26974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LR=2e-4, β1=0.5 (G &amp; D)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92040" y="4087368"/>
            <a:ext cx="111556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B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025896" y="4087368"/>
            <a:ext cx="26974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Καμπύλες Εκπαίδευσης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0B4D8"/>
                </a:solidFill>
              </a:rPr>
              <a:t>05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3347974"/>
              </p:ext>
            </p:extLst>
          </p:nvPr>
        </p:nvGraphicFramePr>
        <p:xfrm>
          <a:off x="238073" y="1214047"/>
          <a:ext cx="2384094" cy="1213147"/>
        </p:xfrm>
        <a:graphic>
          <a:graphicData uri="http://schemas.openxmlformats.org/drawingml/2006/table">
            <a:tbl>
              <a:tblPr/>
              <a:tblGrid>
                <a:gridCol w="5960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4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40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24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7977" marR="87977" marT="43989" marB="43989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Loss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7977" marR="87977" marT="43989" marB="43989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7977" marR="87977" marT="43989" marB="43989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6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7977" marR="87977" marT="43989" marB="43989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179.924*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7977" marR="87977" marT="43989" marB="43989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118.596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7977" marR="87977" marT="43989" marB="43989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6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7977" marR="87977" marT="43989" marB="43989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7977" marR="87977" marT="43989" marB="43989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7977" marR="87977" marT="43989" marB="43989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6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7977" marR="87977" marT="43989" marB="43989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7977" marR="87977" marT="43989" marB="43989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7977" marR="87977" marT="43989" marB="43989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6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7977" marR="87977" marT="43989" marB="43989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7977" marR="87977" marT="43989" marB="43989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7977" marR="87977" marT="43989" marB="43989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238073" y="245902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KL Collapse epoch 1 — τυπικό φαινόμενο χωρίς warmup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239388" y="4649107"/>
            <a:ext cx="251046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D(G(z)) 0.006→0.075: ο Generator βελτιώνεται αλλά δεν ξεπερνά τον Discriminator</a:t>
            </a:r>
            <a:endParaRPr lang="en-US" sz="900" dirty="0"/>
          </a:p>
        </p:txBody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DC4DF752-B1CE-0F9D-2DBA-8DB6C10F5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5666" y="702336"/>
            <a:ext cx="4733679" cy="4028339"/>
          </a:xfrm>
          <a:prstGeom prst="rect">
            <a:avLst/>
          </a:prstGeom>
        </p:spPr>
      </p:pic>
      <p:sp>
        <p:nvSpPr>
          <p:cNvPr id="14" name="Text 3">
            <a:extLst>
              <a:ext uri="{FF2B5EF4-FFF2-40B4-BE49-F238E27FC236}">
                <a16:creationId xmlns:a16="http://schemas.microsoft.com/office/drawing/2014/main" id="{17698F9C-2B18-D639-511F-1989EE4D8321}"/>
              </a:ext>
            </a:extLst>
          </p:cNvPr>
          <p:cNvSpPr/>
          <p:nvPr/>
        </p:nvSpPr>
        <p:spPr>
          <a:xfrm>
            <a:off x="2749854" y="4553710"/>
            <a:ext cx="6394146" cy="6583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Σχ. 1: VAE — Train/Val Loss &amp; Recon/KLD ανάλυση (30 epochs)  |  DCGAN — G/D Loss &amp; D(x)/D(G(z)) (50 epochs)</a:t>
            </a:r>
            <a:endParaRPr lang="en-US" sz="800" dirty="0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F87C926C-5E0E-22A7-D52D-A6402681278F}"/>
              </a:ext>
            </a:extLst>
          </p:cNvPr>
          <p:cNvSpPr/>
          <p:nvPr/>
        </p:nvSpPr>
        <p:spPr>
          <a:xfrm>
            <a:off x="239388" y="753550"/>
            <a:ext cx="1387736" cy="391159"/>
          </a:xfrm>
          <a:prstGeom prst="roundRect">
            <a:avLst>
              <a:gd name="adj" fmla="val 8197"/>
            </a:avLst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pPr algn="ctr"/>
            <a:r>
              <a:rPr lang="en-GB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</a:t>
            </a:r>
            <a:endParaRPr lang="en-GB" sz="2200" b="1" dirty="0">
              <a:solidFill>
                <a:srgbClr val="00B4D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35C2C90E-743A-A962-D061-0A9ACDC55918}"/>
              </a:ext>
            </a:extLst>
          </p:cNvPr>
          <p:cNvSpPr/>
          <p:nvPr/>
        </p:nvSpPr>
        <p:spPr>
          <a:xfrm>
            <a:off x="239388" y="2966076"/>
            <a:ext cx="1387736" cy="391159"/>
          </a:xfrm>
          <a:prstGeom prst="roundRect">
            <a:avLst>
              <a:gd name="adj" fmla="val 8197"/>
            </a:avLst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pPr algn="ctr"/>
            <a:r>
              <a:rPr lang="en-GB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DCGAN</a:t>
            </a:r>
            <a:endParaRPr lang="en-GB" sz="2200" b="1" dirty="0">
              <a:solidFill>
                <a:srgbClr val="00B4D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2662728"/>
              </p:ext>
            </p:extLst>
          </p:nvPr>
        </p:nvGraphicFramePr>
        <p:xfrm>
          <a:off x="238073" y="3462990"/>
          <a:ext cx="2510466" cy="1090720"/>
        </p:xfrm>
        <a:graphic>
          <a:graphicData uri="http://schemas.openxmlformats.org/drawingml/2006/table">
            <a:tbl>
              <a:tblPr/>
              <a:tblGrid>
                <a:gridCol w="836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6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6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2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3319" marR="93319" marT="46659" marB="46659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Loss_G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3319" marR="93319" marT="46659" marB="46659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D(G(z))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3319" marR="93319" marT="46659" marB="46659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3319" marR="93319" marT="46659" marB="46659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3319" marR="93319" marT="46659" marB="46659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3319" marR="93319" marT="46659" marB="46659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3319" marR="93319" marT="46659" marB="46659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3319" marR="93319" marT="46659" marB="46659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3319" marR="93319" marT="46659" marB="46659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3319" marR="93319" marT="46659" marB="46659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3319" marR="93319" marT="46659" marB="46659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3319" marR="93319" marT="46659" marB="46659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4B671C-697C-0CAC-A2FA-18752F750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D07247B-E4F7-8697-2C36-0E5979F5579F}"/>
              </a:ext>
            </a:extLst>
          </p:cNvPr>
          <p:cNvSpPr/>
          <p:nvPr/>
        </p:nvSpPr>
        <p:spPr>
          <a:xfrm>
            <a:off x="0" y="-7396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pPr algn="just"/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Ποιοτική</a:t>
            </a: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Σύγκριση</a:t>
            </a: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Real vs VAE vs DCGAN</a:t>
            </a:r>
            <a:endParaRPr lang="en-US" dirty="0"/>
          </a:p>
          <a:p>
            <a:endParaRPr lang="en-GB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6851CDB-9182-7F42-0397-B56703A47D32}"/>
              </a:ext>
            </a:extLst>
          </p:cNvPr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37F1139-08F1-C455-787A-1EC97226F37E}"/>
              </a:ext>
            </a:extLst>
          </p:cNvPr>
          <p:cNvSpPr/>
          <p:nvPr/>
        </p:nvSpPr>
        <p:spPr>
          <a:xfrm>
            <a:off x="8046720" y="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0B4D8"/>
                </a:solidFill>
              </a:rPr>
              <a:t>06</a:t>
            </a:r>
            <a:endParaRPr lang="en-US" sz="220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AF1151BB-1F14-3DD4-52BA-487B65BB76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94944"/>
            <a:ext cx="5029200" cy="4233672"/>
          </a:xfrm>
          <a:prstGeom prst="rect">
            <a:avLst/>
          </a:prstGeom>
        </p:spPr>
      </p:pic>
      <p:sp>
        <p:nvSpPr>
          <p:cNvPr id="27" name="Text 19">
            <a:extLst>
              <a:ext uri="{FF2B5EF4-FFF2-40B4-BE49-F238E27FC236}">
                <a16:creationId xmlns:a16="http://schemas.microsoft.com/office/drawing/2014/main" id="{46B8D9A6-0134-DC11-E346-15E14F950AB4}"/>
              </a:ext>
            </a:extLst>
          </p:cNvPr>
          <p:cNvSpPr/>
          <p:nvPr/>
        </p:nvSpPr>
        <p:spPr>
          <a:xfrm>
            <a:off x="-1307592" y="495255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Σχ. 2: Σύγκριση Real / VAE Ανακατασκευή / VAE Παραγωγή / DCGAN Παραγωγή</a:t>
            </a:r>
            <a:endParaRPr lang="en-US" sz="850" dirty="0"/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E7F683CA-6DE3-E854-7E3C-A428131053B6}"/>
              </a:ext>
            </a:extLst>
          </p:cNvPr>
          <p:cNvSpPr/>
          <p:nvPr/>
        </p:nvSpPr>
        <p:spPr>
          <a:xfrm>
            <a:off x="5623560" y="804672"/>
            <a:ext cx="33375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4">
            <a:extLst>
              <a:ext uri="{FF2B5EF4-FFF2-40B4-BE49-F238E27FC236}">
                <a16:creationId xmlns:a16="http://schemas.microsoft.com/office/drawing/2014/main" id="{78C02855-518C-865A-F585-BBECF5C7C4D7}"/>
              </a:ext>
            </a:extLst>
          </p:cNvPr>
          <p:cNvSpPr/>
          <p:nvPr/>
        </p:nvSpPr>
        <p:spPr>
          <a:xfrm>
            <a:off x="5623560" y="804672"/>
            <a:ext cx="3337560" cy="2286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7B524CE6-8ECC-1301-26C8-90CD7F60F93B}"/>
              </a:ext>
            </a:extLst>
          </p:cNvPr>
          <p:cNvSpPr/>
          <p:nvPr/>
        </p:nvSpPr>
        <p:spPr>
          <a:xfrm>
            <a:off x="5687568" y="82296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Real</a:t>
            </a:r>
            <a:endParaRPr lang="en-US" sz="1100" dirty="0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4DC0F32F-0BA0-2733-CF10-C44C79EF66F7}"/>
              </a:ext>
            </a:extLst>
          </p:cNvPr>
          <p:cNvSpPr/>
          <p:nvPr/>
        </p:nvSpPr>
        <p:spPr>
          <a:xfrm>
            <a:off x="5687568" y="1060704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63.565 εικόνες, ανάλυση 88×88→64×64. Ευκρινείς, ποικίλα χαρακτηριστικά.</a:t>
            </a:r>
            <a:endParaRPr lang="en-US" sz="1000" dirty="0"/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D04B5342-02F3-81AC-BEE3-252D4C2810F4}"/>
              </a:ext>
            </a:extLst>
          </p:cNvPr>
          <p:cNvSpPr/>
          <p:nvPr/>
        </p:nvSpPr>
        <p:spPr>
          <a:xfrm>
            <a:off x="5623560" y="1828800"/>
            <a:ext cx="33375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19D848F0-4860-E222-18BD-52441A1CF4F1}"/>
              </a:ext>
            </a:extLst>
          </p:cNvPr>
          <p:cNvSpPr/>
          <p:nvPr/>
        </p:nvSpPr>
        <p:spPr>
          <a:xfrm>
            <a:off x="5623560" y="1828800"/>
            <a:ext cx="3337560" cy="22860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9DB6CB40-E363-CF3B-88E8-968E2C0AE545}"/>
              </a:ext>
            </a:extLst>
          </p:cNvPr>
          <p:cNvSpPr/>
          <p:nvPr/>
        </p:nvSpPr>
        <p:spPr>
          <a:xfrm>
            <a:off x="5687568" y="18470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VAE Recon</a:t>
            </a:r>
            <a:endParaRPr lang="en-US" sz="1100" dirty="0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E5913F0B-0D81-C14E-1074-28341CF529D2}"/>
              </a:ext>
            </a:extLst>
          </p:cNvPr>
          <p:cNvSpPr/>
          <p:nvPr/>
        </p:nvSpPr>
        <p:spPr>
          <a:xfrm>
            <a:off x="5687568" y="208483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Διατηρεί δομή &amp; χρώματα. Εμφανής blurriness λόγω MSE pixel-wise loss.</a:t>
            </a:r>
            <a:endParaRPr lang="en-US" sz="1000" dirty="0"/>
          </a:p>
        </p:txBody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5944C7B1-03EA-A364-6BC0-B3DDEA4A4DF3}"/>
              </a:ext>
            </a:extLst>
          </p:cNvPr>
          <p:cNvSpPr/>
          <p:nvPr/>
        </p:nvSpPr>
        <p:spPr>
          <a:xfrm>
            <a:off x="5623560" y="2852928"/>
            <a:ext cx="33375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401A52F9-9DAD-7FC4-14A8-3E9F8D7B88D3}"/>
              </a:ext>
            </a:extLst>
          </p:cNvPr>
          <p:cNvSpPr/>
          <p:nvPr/>
        </p:nvSpPr>
        <p:spPr>
          <a:xfrm>
            <a:off x="5623560" y="2852928"/>
            <a:ext cx="3337560" cy="228600"/>
          </a:xfrm>
          <a:prstGeom prst="rect">
            <a:avLst/>
          </a:prstGeom>
          <a:solidFill>
            <a:srgbClr val="5D6D7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892D3567-69AE-6DCC-DC91-BDD22EE70824}"/>
              </a:ext>
            </a:extLst>
          </p:cNvPr>
          <p:cNvSpPr/>
          <p:nvPr/>
        </p:nvSpPr>
        <p:spPr>
          <a:xfrm>
            <a:off x="5687568" y="287121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VAE Gen</a:t>
            </a:r>
            <a:endParaRPr lang="en-US" sz="1100" dirty="0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651F6A8A-4577-AAF1-0C51-57B681A720BE}"/>
              </a:ext>
            </a:extLst>
          </p:cNvPr>
          <p:cNvSpPr/>
          <p:nvPr/>
        </p:nvSpPr>
        <p:spPr>
          <a:xfrm>
            <a:off x="5687568" y="31089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Θολές εικόνες από random sampling N(0,I). Εκτός κύριου manifold.</a:t>
            </a:r>
            <a:endParaRPr lang="en-US" sz="1000" dirty="0"/>
          </a:p>
        </p:txBody>
      </p:sp>
      <p:sp>
        <p:nvSpPr>
          <p:cNvPr id="40" name="Shape 15">
            <a:extLst>
              <a:ext uri="{FF2B5EF4-FFF2-40B4-BE49-F238E27FC236}">
                <a16:creationId xmlns:a16="http://schemas.microsoft.com/office/drawing/2014/main" id="{AA2172FF-682E-E96C-FA5F-6A2E7619C6CB}"/>
              </a:ext>
            </a:extLst>
          </p:cNvPr>
          <p:cNvSpPr/>
          <p:nvPr/>
        </p:nvSpPr>
        <p:spPr>
          <a:xfrm>
            <a:off x="5623560" y="3877056"/>
            <a:ext cx="33375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1" name="Shape 16">
            <a:extLst>
              <a:ext uri="{FF2B5EF4-FFF2-40B4-BE49-F238E27FC236}">
                <a16:creationId xmlns:a16="http://schemas.microsoft.com/office/drawing/2014/main" id="{CBA2556E-65F3-E40A-7272-0260732A5F85}"/>
              </a:ext>
            </a:extLst>
          </p:cNvPr>
          <p:cNvSpPr/>
          <p:nvPr/>
        </p:nvSpPr>
        <p:spPr>
          <a:xfrm>
            <a:off x="5623560" y="3877056"/>
            <a:ext cx="3337560" cy="228600"/>
          </a:xfrm>
          <a:prstGeom prst="rect">
            <a:avLst/>
          </a:prstGeom>
          <a:solidFill>
            <a:srgbClr val="E05C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Text 17">
            <a:extLst>
              <a:ext uri="{FF2B5EF4-FFF2-40B4-BE49-F238E27FC236}">
                <a16:creationId xmlns:a16="http://schemas.microsoft.com/office/drawing/2014/main" id="{3C357D8B-9225-8D42-467B-DEBD3B407AD8}"/>
              </a:ext>
            </a:extLst>
          </p:cNvPr>
          <p:cNvSpPr/>
          <p:nvPr/>
        </p:nvSpPr>
        <p:spPr>
          <a:xfrm>
            <a:off x="5687568" y="389534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DCGAN Gen</a:t>
            </a:r>
            <a:endParaRPr lang="en-US" sz="1100" dirty="0"/>
          </a:p>
        </p:txBody>
      </p:sp>
      <p:sp>
        <p:nvSpPr>
          <p:cNvPr id="43" name="Text 18">
            <a:extLst>
              <a:ext uri="{FF2B5EF4-FFF2-40B4-BE49-F238E27FC236}">
                <a16:creationId xmlns:a16="http://schemas.microsoft.com/office/drawing/2014/main" id="{3852EEBC-FF3E-6374-8CC1-DE5C4787D9E1}"/>
              </a:ext>
            </a:extLst>
          </p:cNvPr>
          <p:cNvSpPr/>
          <p:nvPr/>
        </p:nvSpPr>
        <p:spPr>
          <a:xfrm>
            <a:off x="5687568" y="413308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Ευκρινείς λεπτομέρειες, ρεαλιστική υφή. Adversarial loss = sharp images.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658291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Αποτελέσματα &amp; Ποσοτική Σύγκριση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D166"/>
                </a:solidFill>
              </a:rPr>
              <a:t>07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 Score (Fréchet Inception Distance) — χαμηλότερο = καλύτερο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154680" y="868680"/>
            <a:ext cx="2834640" cy="411480"/>
          </a:xfrm>
          <a:prstGeom prst="roundRect">
            <a:avLst>
              <a:gd name="adj" fmla="val 17778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154680" y="868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52.5% βελτίωση FID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3931920" cy="1783080"/>
          </a:xfrm>
          <a:prstGeom prst="roundRect">
            <a:avLst>
              <a:gd name="adj" fmla="val 6154"/>
            </a:avLst>
          </a:prstGeom>
          <a:solidFill>
            <a:srgbClr val="14223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65760" y="1463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65760" y="181051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244.72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365760" y="25603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 Score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81635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epochs  •  11.8M params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417320"/>
            <a:ext cx="3931920" cy="1783080"/>
          </a:xfrm>
          <a:prstGeom prst="roundRect">
            <a:avLst>
              <a:gd name="adj" fmla="val 6154"/>
            </a:avLst>
          </a:prstGeom>
          <a:solidFill>
            <a:srgbClr val="1A0A0A"/>
          </a:solidFill>
          <a:ln w="254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846320" y="1417320"/>
            <a:ext cx="1280160" cy="36576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846320" y="1417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ΝΙΚΗΤΗΣ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0" y="1463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DCGAN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846320" y="181051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116.16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4846320" y="25603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 Score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81635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epochs  •  6.34M params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5958014"/>
              </p:ext>
            </p:extLst>
          </p:nvPr>
        </p:nvGraphicFramePr>
        <p:xfrm>
          <a:off x="365760" y="3276241"/>
          <a:ext cx="8412480" cy="18135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07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Μετρική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DCGAN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7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FID Score (↓)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244.72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116.16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7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Παράμετροι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11.815.427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6.342.272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7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Latent Dim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 (μ, σ)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(noise z)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7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Θολές εικόνες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Ευκρινείς εικόνες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7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Interpolation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Ομαλή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Μη τετριμμένη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7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Εκπαίδευση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Σταθερή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Ευαίσθητη (G/D balance)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Ποιοτική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Ανάλυση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0B4D8"/>
                </a:solidFill>
              </a:rPr>
              <a:t>08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624942"/>
            <a:ext cx="2697480" cy="197887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5240">
            <a:solidFill>
              <a:srgbClr val="0077B6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74320" y="1265099"/>
            <a:ext cx="2697480" cy="3657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74320" y="1251383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 — Ανακατασκευή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225296"/>
            <a:ext cx="2423160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Διατηρεί γενική δομή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Χρώμα μαλλιών, θέση ματιών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Blurriness λόγω MSE loss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Pixel-wise averaging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77540" y="1624942"/>
            <a:ext cx="2697480" cy="197887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5240">
            <a:solidFill>
              <a:srgbClr val="5A7A8A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177540" y="1251383"/>
            <a:ext cx="2697480" cy="365760"/>
          </a:xfrm>
          <a:prstGeom prst="rect">
            <a:avLst/>
          </a:prstGeom>
          <a:solidFill>
            <a:srgbClr val="5A7A8A"/>
          </a:solidFill>
          <a:ln w="12700">
            <a:solidFill>
              <a:srgbClr val="5A7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177540" y="12435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 — Παραγωγή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46120" y="1225296"/>
            <a:ext cx="2423160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Ακόμα πιο θολές εικόνες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Δειγματοληψία από N(0,I)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Εκτός κύριου manifold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Αλλά: δομημένο latent space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604772"/>
            <a:ext cx="2697480" cy="1999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5240">
            <a:solidFill>
              <a:srgbClr val="B03030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035040" y="1265099"/>
            <a:ext cx="2697480" cy="365760"/>
          </a:xfrm>
          <a:prstGeom prst="rect">
            <a:avLst/>
          </a:prstGeom>
          <a:solidFill>
            <a:srgbClr val="B03030"/>
          </a:solidFill>
          <a:ln w="12700">
            <a:solidFill>
              <a:srgbClr val="B030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943600" y="12435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DCGAN — Παραγωγή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80760" y="1225296"/>
            <a:ext cx="2423160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Ευκρινείς λεπτομέρειες ✓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Ρεαλιστικές υφές ✓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Αναγνωρίσιμα anime χαρακτ. ✓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→ sharp edges ✓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Συζήτηση &amp; Περιορισμοί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0B4D8"/>
                </a:solidFill>
              </a:rPr>
              <a:t>09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Γιατί κέρδισε το DCGAN;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161288"/>
            <a:ext cx="26974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11480" y="1243584"/>
            <a:ext cx="292608" cy="29260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11480" y="1243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20700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Loss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591056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Discriminator = learnable perceptual loss → εξαναγκάζει τον Generator να παράγει εικόνες αδιάκριτες από πραγματικές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54680" y="1161288"/>
            <a:ext cx="26974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246120" y="1243584"/>
            <a:ext cx="292608" cy="29260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246120" y="1243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11880" y="120700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Features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46120" y="1591056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Αντί για MSE (pixel-wise average → blur), το DCGAN μαθαίνει υψηλής συχνότητας λεπτομέρειες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89320" y="1161288"/>
            <a:ext cx="26974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6080760" y="1243584"/>
            <a:ext cx="292608" cy="29260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080760" y="1243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120700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Παράμετροι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80760" y="1591056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Λιγότερες παράμετροι (6.34M vs 11.8M) αλλά πιο αποτελεσματική αρχιτεκτονική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0040" y="257860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Περιορισμοί &amp; Δυσκολίες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0040" y="2971800"/>
            <a:ext cx="4206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0D0D0"/>
            </a:solidFill>
            <a:prstDash val="solid"/>
          </a:ln>
          <a:effectLst>
            <a:outerShdw blurRad="381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29768" y="302666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Collapse: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9768" y="326440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KLD=118.596 στην epoch 1 — χωρίς KL warmup το VAE αρχικά αποτυγχάνει. Πέφτει φυσικά από epoch 2.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27448" y="2971800"/>
            <a:ext cx="4206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0D0D0"/>
            </a:solidFill>
            <a:prstDash val="solid"/>
          </a:ln>
          <a:effectLst>
            <a:outerShdw blurRad="381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837176" y="302666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DCGAN Imbalance: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37176" y="326440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D(x)≈0.75 &gt;&gt; 0.5 όλη την εκπαίδευση. Ο Discriminator κυριαρχεί — G δεν ξεγελά αποτελεσματικά.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3776472"/>
            <a:ext cx="4206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0D0D0"/>
            </a:solidFill>
            <a:prstDash val="solid"/>
          </a:ln>
          <a:effectLst>
            <a:outerShdw blurRad="381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429768" y="383133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Υποχρήση: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9768" y="406908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20.000 / 63.565 εικόνες. Με το πλήρες dataset, αμφότερα τα μοντέλα θα βελτιώνονταν.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27448" y="3776472"/>
            <a:ext cx="4206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0D0D0"/>
            </a:solidFill>
            <a:prstDash val="solid"/>
          </a:ln>
          <a:effectLst>
            <a:outerShdw blurRad="381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4837176" y="383133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 Αξιοπιστία: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37176" y="406908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 υπολογίστηκε με 2.000 εικόνες — υψηλή διασπορά. Απαιτούνται 50.000+ για αξιόπιστα αποτελέσματα.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Συμπεράσματα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D1B2A"/>
                </a:solidFill>
              </a:rPr>
              <a:t>10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1371600"/>
          </a:xfrm>
          <a:prstGeom prst="roundRect">
            <a:avLst>
              <a:gd name="adj" fmla="val 8000"/>
            </a:avLst>
          </a:prstGeom>
          <a:solidFill>
            <a:srgbClr val="0D2233"/>
          </a:solidFill>
          <a:ln w="1905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66928" y="1316736"/>
            <a:ext cx="384048" cy="38404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66928" y="1316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93268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DCGAN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1325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Νικητής — ποιότητα εικόνας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58191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training → sharp, ρεαλιστικά anime. Κατάλληλο για visual fidelity.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0" y="1207008"/>
            <a:ext cx="1783080" cy="566928"/>
          </a:xfrm>
          <a:prstGeom prst="roundRect">
            <a:avLst>
              <a:gd name="adj" fmla="val 12903"/>
            </a:avLst>
          </a:prstGeom>
          <a:solidFill>
            <a:srgbClr val="FF6B6B">
              <a:alpha val="2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858000" y="120700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 116.16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5760" y="2331720"/>
            <a:ext cx="8412480" cy="1371600"/>
          </a:xfrm>
          <a:prstGeom prst="roundRect">
            <a:avLst>
              <a:gd name="adj" fmla="val 8000"/>
            </a:avLst>
          </a:prstGeom>
          <a:solidFill>
            <a:srgbClr val="0D2233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566928" y="2825496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66928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244144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43000" y="2834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Σταθερό — controllable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309067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Δομημένο latent space, ομαλές παρεμβολές. Κατάλληλο για latent exploration.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0" y="2715768"/>
            <a:ext cx="1783080" cy="566928"/>
          </a:xfrm>
          <a:prstGeom prst="roundRect">
            <a:avLst>
              <a:gd name="adj" fmla="val 12903"/>
            </a:avLst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858000" y="271576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 244.72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65760" y="3913632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0A2A1A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548640" y="396849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Μελλοντικές Βελτιώσεις: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2519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Πλήρες dataset (63.565 εικόνες)  •  Περισσότερες εποχές  •  KL warmup για VAE  •  Progressive growing για DCGAN  •  StyleGAN2 / Diffusion Models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Ευχαριστώ για την Προσοχή σας!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Ερωτήσεις;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938528"/>
            <a:ext cx="7680960" cy="1645920"/>
          </a:xfrm>
          <a:prstGeom prst="roundRect">
            <a:avLst>
              <a:gd name="adj" fmla="val 6667"/>
            </a:avLst>
          </a:prstGeom>
          <a:solidFill>
            <a:srgbClr val="0D2233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7498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Σύνοψη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7498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DCGAN FID=116.16  vs  VAE FID=244.72  →  </a:t>
            </a: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52.5% βελτίωση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Anime Face (Kaggle)  •  PyTorch 2.1  •  Google Colab T4 GPU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VAE: σταθερή εκπαίδευση + latent interpolation  •  DCGAN: sharp εικόνες + adversarial ποιότητα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Βιβλιογραφία: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895344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Kingma &amp; Welling (2013) — VAE  •  [2] Goodfellow et al. (2014) — GANs  •  [3] Radford et al. (2015) — DCGAN  •  [4] Heusel et al. (2017) — FID  •  [5] Higgins et al. (2017) — β-VAE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Χαρίλαος Τουτουντζάκης  |  Πανεπιστήμιο Θεσσαλίας  |  ΠΜΣ Εφαρμοσμένα Μαθηματικά &amp; Μηχανική Μάθηση  |  202</a:t>
            </a:r>
            <a:r>
              <a:rPr lang="el-GR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–202</a:t>
            </a:r>
            <a:r>
              <a:rPr lang="el-GR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1531</Words>
  <Application>Microsoft Office PowerPoint</Application>
  <PresentationFormat>On-screen Show (16:9)</PresentationFormat>
  <Paragraphs>269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VAE vs DCGAN — Παραγωγή Anime Προσώπων</dc:title>
  <dc:subject>PptxGenJS Presentation</dc:subject>
  <dc:creator>PptxGenJS</dc:creator>
  <cp:lastModifiedBy>TOUTOUNTZAKIS CHARILAOS</cp:lastModifiedBy>
  <cp:revision>6</cp:revision>
  <dcterms:created xsi:type="dcterms:W3CDTF">2026-06-18T08:10:16Z</dcterms:created>
  <dcterms:modified xsi:type="dcterms:W3CDTF">2026-06-18T17:30:57Z</dcterms:modified>
</cp:coreProperties>
</file>